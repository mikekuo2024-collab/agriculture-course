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640080"/>
            <a:ext cx="1463040" cy="1463040"/>
          </a:xfrm>
          <a:prstGeom prst="ellipse">
            <a:avLst/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1097280"/>
            <a:ext cx="914400" cy="914400"/>
          </a:xfrm>
          <a:prstGeom prst="ellipse">
            <a:avLst/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農業概論下冊 第10章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Noto Serif CJK TC"/>
                <a:ea typeface="Noto Serif CJK TC"/>
                <a:cs typeface="Noto Serif CJK TC"/>
              </a:rPr>
              <a:t>畜牧：從一顆蛋到一頭豬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品種・營養・繁殖・飼養・衛生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B6C8DE"/>
                </a:solidFill>
                <a:latin typeface="Noto Sans CJK TC"/>
                <a:ea typeface="Noto Sans CJK TC"/>
                <a:cs typeface="Noto Sans CJK TC"/>
              </a:rPr>
              <a:t>對照課本《農概下冊》第10章 p128–178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749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22122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授課時數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321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約 2 節課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50749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522122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適用對象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55321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高職學生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0749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22122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內容來源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5321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課本真實內文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507492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522122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延伸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55321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12 份專有名詞報告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導論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課程導覽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學習目標與本章地圖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這堂課結束後，你會：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496312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459736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認識意義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95351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認識畜牧的意義及重要性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00984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3557016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520440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認識品種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4014216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認識家禽、家畜的品種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61688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4617720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581144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懂生長繁殖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5074920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了解禽畜生長、營養與繁殖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22392"/>
            <a:ext cx="5486400" cy="932688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5678424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5641848"/>
            <a:ext cx="4251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會衛生管理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6135624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了解家禽畜的衛生管理與生物安全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章節 · 學習路徑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240280"/>
            <a:ext cx="52120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01968" y="2459736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40487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意義範圍重要性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807208"/>
            <a:ext cx="3840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經濟動物、法定家禽畜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300984"/>
            <a:ext cx="52120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3520440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465576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生長及繁殖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867912"/>
            <a:ext cx="3840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營養、飼料、孵化、配種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361688"/>
            <a:ext cx="52120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01968" y="4581144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52628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禽畜的飼養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928616"/>
            <a:ext cx="3840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雞鴨豬牛羊兔的飼養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422392"/>
            <a:ext cx="521208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01968" y="5641848"/>
            <a:ext cx="868680" cy="502920"/>
          </a:xfrm>
          <a:prstGeom prst="roundRect">
            <a:avLst>
              <a:gd name="adj" fmla="val 18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558698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衛生管理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5989320"/>
            <a:ext cx="3840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生物安全、健康觀察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10-1 意義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畜牧與經濟動物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家禽家畜＝經濟動物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凡經人類馴養、可大量繁殖並把優良性能（產乳/蛋/肉）遺傳後代、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具重大經濟價值的動物，稱家禽、家畜，又稱「經濟動物」。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利用土地生產家禽家畜的事業就是畜牧。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範圍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廣義：含魚、昆蟲等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狹義：具經濟價值者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法定家禽 5 種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法定家畜 6 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10-1 範圍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法定家禽與家畜（農委會公布）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辨識動物的關鍵：偶蹄或單蹄？反芻或不反芻？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9167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類別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消化特徵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備註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法定家禽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雞、鴨、鵝、火雞、鴕鳥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—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鴕鳥 2004 年才列入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法定家畜-豬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豬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偶蹄、非反芻、多胎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國際三大種＋本土黑豬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法定家畜-反芻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牛、羊、鹿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偶蹄、反芻、複胃四部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多單胎(牛)/雙胎(羊)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法定家畜-單胃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兔、馬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盲腸發達、不反芻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兔草食假反芻、馬單蹄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10-1 品種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雞的三大用途品種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蛋用・肉用・蛋肉兼用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蛋用：來航雞（白殼蛋，台灣 94% 蛋雞的來源、無就巢性）。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肉用：白肉雞（32–40 天達 2 公斤）、台灣自育有色土雞（約 13 週）。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蛋肉兼用：蘆花雞、洛島紅（褐殼蛋）。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關鍵字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來航雞 Leghorn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就巢性（賴孵）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白色可尼秀父系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有色土雞台灣自育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10-1 品種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豬與三品種雜交豬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LYD 三品種雜交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國際三大種：藍瑞斯(L,母系)、約克夏(Y,大白豬)、杜洛克(D,終端公豬)。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雜交：♀(藍瑞斯×約克夏)×杜洛克♂ → LYD，約 6 個月達 110 公斤。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台灣本土：桃園豬、蘭嶼迷你豬、畜試黑豬1號；黑豬約占市場 15%。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偶蹄・非反芻・多胎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雜種優勢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終端公豬＝杜洛克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本土保種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10-1 品種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牛的品種與複胃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乳用・肉用・反芻複胃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乳用：荷蘭牛（體最大產乳最高，台灣主力）、娟姍牛（乳脂率最高）。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肉用：安格斯（大理石紋）、台灣黃牛（原役用）；國產牛肉約占 6%。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牛為偶蹄反芻，複胃四部：瘤胃、蜂巢胃、重瓣胃、皺胃（真胃）。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乳牛體型三角形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荷蘭牛 Holstein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複胃四部分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懷孕右側腹膨大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10-1 品種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羊、兔、鹿、馬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消化方式大不同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羊：偶蹄反芻複胃、多雙胎；乳用五品種、肉用波爾山羊；綿羊桃莉為複製羊。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兔：草食、非反芻、單胃、盲腸發達，有「假反芻」夜間食軟糞補 B 群。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鹿反芻；馬為單蹄、不反芻、盲腸發達，家畜中飼養最少。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對照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羊 2 乳頭 / 牛 4 乳頭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兔乳蛋白 13%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綿羊粗料可達 95%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馬單蹄不反芻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10-1 重要性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畜牧為何重要？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經濟・民生・生態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經濟：2017 畜產業年產值 1,654 億元，占農業總產值的 32.22%；毛豬居首。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民生：提供蛋白質（乳肉蛋）、衣物原料（羊毛皮革）、役用與伴侶動物。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生態：糞便製堆肥/沼氣、維持地力、農業副產品轉為飼料。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數字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年產值 1,654 億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占農業 32.22%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毛豬產值第一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返鄉青農機會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10-2 營養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六大營養素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醣・蛋白・脂・維生素・礦・水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醣（碳氫氧）分單醣、雙醣、多醣，玉米為代表；蛋白質由胺基酸組成。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脂類能量為醣的 2.25 倍；維生素分脂溶性 A/D/E/K 與水溶性 C/B 群。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礦物質分巨量（鈣磷等）與微量（鐵碘等）；水為新陳代謝必需。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缺乏症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缺 A→夜盲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缺 D→軟骨/佝僂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缺 B1→腳氣病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缺鐵→貧血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10-2 飼料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精料與粗料（牧草）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精料補能量、粗料補纖維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精料：營養高、體積小、粗纖維少——玉米/麥、魚粉/大豆粉、尿素。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尿素含氮&gt;46%，牛瘤胃菌可利用，代替部分蛋白質（過量會中毒）。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粗料/牧草：狼尾草(產量最高)、盤固草(種最廣)、苜蓿(牧草之后,豆科根瘤菌固氮)。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牧草分類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禾本科：狼尾草/盤固草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豆科：苜蓿(蛋白最高)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根瘤菌固游離氮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青貯料厭氧發酵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10-2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六大營養素：功能與缺乏症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六大營養素缺一不可，缺乏會出現特定病症。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9167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營養素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主要功能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缺乏症/備註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來源例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碳水化合物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提供熱能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單/雙/多醣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玉米、麥類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蛋白質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構成身體主成分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胺基酸組成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魚粉、大豆粉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脂肪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能量(醣的2.25倍)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高能量來源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油脂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維生素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調節生理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缺A夜盲、缺D軟骨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脂溶A/D/E/K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礦物質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組成骨骼牙齒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缺鐵貧血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鈣、磷、鐵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水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新陳代謝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運輸與排泄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飲水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10-2 繁殖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種蛋孵化管理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控溫、控濕、翻蛋、照蛋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種蛋鈍端朝上保存；胚胎發育臨界溫度 23.9℃，須保存於其下。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孵化期(1–18天) 37.5–37.8℃/濕度55–60%；發生期(18–21天) 36.1–37.2℃/70–75%。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翻蛋前後各 45°、每天 4–6 次；照蛋第 4–6/12/18 日，去無精蛋與終止蛋。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臨界溫度 23.9℃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甲醛燻煙消毒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翻蛋每天4–6次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照蛋去無精蛋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10-2 繁殖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各家禽孵化天數（表10-3）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口訣：雞21、鴨火雞28、鵝30、番鴨35、鴕鳥42。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9167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家禽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孵化天數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家禽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孵化天數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雞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 天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番鴨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35 天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鴨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28 天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鴕鳥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42 天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火雞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28 天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（雞最短）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21 天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鵝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30 天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（鴕鳥最長）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42 天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10-2 繁殖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發情週期與配種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發情四階段抓配種時機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發情週期：牛馬豬山羊 21 天、綿羊 17 天；兔為誘發排卵、羊季節性發情。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四階段：發情前期→發情中期(排卵、願交配、相互駕乘)→發情後期(LH↑)→發情間期(最長)。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反芻動物懷孕時右側腹膨大（因瘤胃在左腹）。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配種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中期是交配最佳期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牛發情後15h配種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懷孕:兔30豬114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羊150牛280馬336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10-2 繁殖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人工授精（AI）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採精→檢查→稀釋→保存→授精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優點：提高受胎率、加速品改、省公畜、減少疾病傳播。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檢查：豬精液量 250ml（家禽畜最多）、pH 7.0–7.8、正常精子須 &gt;70%。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保存：冷藏（豬15–18℃）或冷凍（-196℃液態氮），配合排卵期授精。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數字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豬精液 250ml 最多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精子 &gt;70% 合格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雞稀釋1倍/豬2倍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-196℃ 液態氮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10-3 飼養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家禽的飼養——雞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平飼、統進統出、水濂式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肉雞多平飼「統進統出」；用水濂式雞舍克服台灣「熱緊迫」。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剪喙 7–10 日齡（上喙 1/3、下喙 1/4）；白肉雞 35 日齡達 2.2 公斤（非打激素）。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蛋雞產蛋達 5% 為分界，光照 14 小時；可強迫換羽把 3 個月縮為 2 個月。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水濂式降溫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剪喙防啄羽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強迫換羽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光照提高產蛋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10-3 飼養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家畜的飼養——豬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哺乳仔豬的關鍵管理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1 週保溫 32℃→剪針齒(8枚)→3 日齡打鐵劑防貧血→2 週去勢。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3 週打豬瘟疫苗→28 天離乳(6–8公斤)；肉豬約 6 個月達 110 公斤出售。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1997 年台灣爆發口蹄疫，2019 年拚「非口蹄疫」疫區。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仔豬 SOP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保溫 32℃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鐵劑 100–150mg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3 週打豬瘟疫苗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28 天離乳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10-3 飼養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家畜的飼養——牛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初乳與架仔牛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初乳（分娩後 3 日內）含 γ-球蛋白免疫抗體，須 24 小時內給予。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仔牛 10–14 日瘤胃開始反芻；耳標/冷烙(液態氮)編號、去角用苛性鉀。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肉牛「架仔牛」達 300–350 公斤進肥育，圈飼每天可增重 1 公斤。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重點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初乳 24h 內給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γ-球蛋白抗體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泌乳擠乳占勞力55%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架仔牛300–350kg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10-4 衛生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生物安全防治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防疫的一道安全屏障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① 控制感染源：人車消毒管制、環境消毒、病媒(飛鳥老鼠)防範。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② 疫苗接種：豬第 3、6 週打豬瘟；雛雞出生第 1 天打馬立克。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③ 糞污三段式：固液分離→厭氣發酵→好氣發酵，符合放流水標準。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人畜共通病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布氏桿菌病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日本腦炎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H5N1 禽流感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狂牛症、結核病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10-4 衛生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放流水標準與禽畜體溫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表10-7 放流水標準（103年）與各禽畜正常體溫。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9167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項目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畜牧業(一)非草食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畜牧業(二)草食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禽畜體溫</a:t>
                      </a:r>
                    </a:p>
                  </a:txBody>
                  <a:tcPr anchor="ctr" marT="0" marB="0">
                    <a:solidFill>
                      <a:srgbClr val="0F24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COD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600 ppm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450 ppm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馬 38.7℃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BOD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80 ppm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80 ppm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乳牛 38.6℃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SS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150 ppm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150 ppm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豬 39.2℃</a:t>
                      </a:r>
                    </a:p>
                  </a:txBody>
                  <a:tcPr anchor="ctr" marL="109728"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0F2440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三段式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28C28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固液分離→厭氣→好氣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同左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  <a:latin typeface="Noto Sans CJK TC"/>
                          <a:ea typeface="Noto Sans CJK TC"/>
                          <a:cs typeface="Noto Sans CJK TC"/>
                        </a:rPr>
                        <a:t>雞 41.7℃(最高)</a:t>
                      </a:r>
                    </a:p>
                  </a:txBody>
                  <a:tcPr anchor="ctr" marL="109728" marT="0" marB="0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10-4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10-4 衛生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禽畜個體健康觀察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92240" cy="3429000"/>
          </a:xfrm>
          <a:prstGeom prst="roundRect">
            <a:avLst>
              <a:gd name="adj" fmla="val 6000"/>
            </a:avLst>
          </a:prstGeom>
          <a:solidFill>
            <a:srgbClr val="EEF4FA"/>
          </a:solidFill>
          <a:ln>
            <a:noFill/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943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每天用眼睛做健康檢查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5943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由六項判斷健康：食慾、被毛與皮膚、可視黏膜、排泄物、呼吸、腹部。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被毛粗亂無光可能有寄生蟲；黏膜蒼白貧血、發黃為黃疸。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反芻動物 1–2 小時反芻 20–30 次為正常；瘤胃鼓脹是精料過量或腐敗所致。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783080"/>
            <a:ext cx="4343400" cy="3429000"/>
          </a:xfrm>
          <a:prstGeom prst="roundRect">
            <a:avLst>
              <a:gd name="adj" fmla="val 6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201168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0B4D8"/>
                </a:solidFill>
                <a:latin typeface="Noto Serif CJK TC"/>
                <a:ea typeface="Noto Serif CJK TC"/>
                <a:cs typeface="Noto Serif CJK TC"/>
              </a:rPr>
              <a:t>觀察點</a:t>
            </a:r>
          </a:p>
        </p:txBody>
      </p:sp>
      <p:sp>
        <p:nvSpPr>
          <p:cNvPr id="10" name="Oval 9"/>
          <p:cNvSpPr/>
          <p:nvPr/>
        </p:nvSpPr>
        <p:spPr>
          <a:xfrm>
            <a:off x="7543800" y="257860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24327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食慾與精神</a:t>
            </a:r>
          </a:p>
        </p:txBody>
      </p:sp>
      <p:sp>
        <p:nvSpPr>
          <p:cNvPr id="12" name="Oval 11"/>
          <p:cNvSpPr/>
          <p:nvPr/>
        </p:nvSpPr>
        <p:spPr>
          <a:xfrm>
            <a:off x="7543800" y="32004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246120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被毛與鼻鏡</a:t>
            </a:r>
          </a:p>
        </p:txBody>
      </p:sp>
      <p:sp>
        <p:nvSpPr>
          <p:cNvPr id="14" name="Oval 13"/>
          <p:cNvSpPr/>
          <p:nvPr/>
        </p:nvSpPr>
        <p:spPr>
          <a:xfrm>
            <a:off x="7543800" y="3822191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867911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眼/鼻/口黏膜</a:t>
            </a:r>
          </a:p>
        </p:txBody>
      </p:sp>
      <p:sp>
        <p:nvSpPr>
          <p:cNvPr id="16" name="Oval 15"/>
          <p:cNvSpPr/>
          <p:nvPr/>
        </p:nvSpPr>
        <p:spPr>
          <a:xfrm>
            <a:off x="7543800" y="4443983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9703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糞尿與呼吸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跨節實務應用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把知識用到真實情境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53384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103120"/>
            <a:ext cx="685800" cy="6858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121408"/>
            <a:ext cx="93878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非洲豬瘟防疫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30424" y="2212848"/>
            <a:ext cx="1188720" cy="411480"/>
          </a:xfrm>
          <a:prstGeom prst="roundRect">
            <a:avLst>
              <a:gd name="adj" fmla="val 4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衛生×防疫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觸發條件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28133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落實生物安全：廚餘高溫蒸煮、人車消毒、病死豬通報化製。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18888"/>
            <a:ext cx="2813304" cy="18288"/>
          </a:xfrm>
          <a:prstGeom prst="rect">
            <a:avLst/>
          </a:prstGeom>
          <a:solidFill>
            <a:srgbClr val="CB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28616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系統動作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76088"/>
            <a:ext cx="2813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對應 10-4 生物安全與人畜共通傳染病。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7784" y="1828800"/>
            <a:ext cx="3453384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2104" y="2103120"/>
            <a:ext cx="685800" cy="6858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5064" y="2121408"/>
            <a:ext cx="93878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乳牛人工授精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9567" y="2212848"/>
            <a:ext cx="1188720" cy="411480"/>
          </a:xfrm>
          <a:prstGeom prst="roundRect">
            <a:avLst>
              <a:gd name="adj" fmla="val 4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繁殖×品改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7823" y="3063240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觸發條件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823" y="3401568"/>
            <a:ext cx="28133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採精→檢查→冷凍精液(-196℃)→配合發情站立後配種，加速品種改良。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7823" y="4818888"/>
            <a:ext cx="2813304" cy="18288"/>
          </a:xfrm>
          <a:prstGeom prst="rect">
            <a:avLst/>
          </a:prstGeom>
          <a:solidFill>
            <a:srgbClr val="CB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7823" y="4928616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系統動作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7823" y="5276088"/>
            <a:ext cx="2813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對應 10-2 繁殖與 AI。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6928" y="1828800"/>
            <a:ext cx="3453384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61248" y="2103120"/>
            <a:ext cx="685800" cy="6858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4208" y="2121408"/>
            <a:ext cx="93878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蛋雞友善飼養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68712" y="2212848"/>
            <a:ext cx="1188720" cy="411480"/>
          </a:xfrm>
          <a:prstGeom prst="roundRect">
            <a:avLst>
              <a:gd name="adj" fmla="val 4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飼養×福利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6968" y="3063240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觸發條件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6968" y="3401568"/>
            <a:ext cx="281330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強迫換羽提高產蛋但引動物福利爭議，帶出格子籠與友善標章議題。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6968" y="4818888"/>
            <a:ext cx="2813304" cy="18288"/>
          </a:xfrm>
          <a:prstGeom prst="rect">
            <a:avLst/>
          </a:prstGeom>
          <a:solidFill>
            <a:srgbClr val="CB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6968" y="4928616"/>
            <a:ext cx="28133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系統動作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6968" y="5276088"/>
            <a:ext cx="281330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對應 10-3 蛋雞飼養。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能連結課本、能舉台灣實例，就是帶得走的能力。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11480"/>
            <a:ext cx="9144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本章總結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三個重點，帶著走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19456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461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先分類再認識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84048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偶蹄/單蹄、反芻/不反芻是辨識禽畜的鑰匙，複胃有四個部分。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59" y="192024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79" y="2194560"/>
            <a:ext cx="914400" cy="91440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2461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營養與繁殖是核心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384048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六大營養素＋精粗料；孵化控溫23.9℃、AI 五步驟、懷孕天數要記牢。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920240"/>
            <a:ext cx="352044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9E8"/>
            </a:solidFill>
          </a:ln>
          <a:effectLst/>
          <a:effectLst>
            <a:outerShdw blurRad="90000" dist="30000" dir="5400000" rotWithShape="0">
              <a:srgbClr val="1E293B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2194560"/>
            <a:ext cx="914400" cy="914400"/>
          </a:xfrm>
          <a:prstGeom prst="ellipse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461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2440"/>
                </a:solidFill>
                <a:latin typeface="Noto Serif CJK TC"/>
                <a:ea typeface="Noto Serif CJK TC"/>
                <a:cs typeface="Noto Serif CJK TC"/>
              </a:rPr>
              <a:t>衛生管理保生產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4048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生物安全三要點＋每日健康觀察，是畜牧成敗的關鍵。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57800"/>
            <a:ext cx="11091672" cy="96012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13248"/>
            <a:ext cx="10424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8C28"/>
                </a:solidFill>
                <a:latin typeface="Noto Sans CJK TC"/>
                <a:ea typeface="Noto Sans CJK TC"/>
                <a:cs typeface="Noto Sans CJK TC"/>
              </a:rPr>
              <a:t>下一步：</a:t>
            </a:r>
            <a:r>
              <a:rPr sz="1400" b="0">
                <a:solidFill>
                  <a:srgbClr val="1E293B"/>
                </a:solidFill>
                <a:latin typeface="Noto Sans CJK TC"/>
                <a:ea typeface="Noto Sans CJK TC"/>
                <a:cs typeface="Noto Sans CJK TC"/>
              </a:rPr>
              <a:t>打開『學習歷程：第10章 畜牧』逐節複習，並完成 50 題線上評量。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6858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424160" y="548640"/>
            <a:ext cx="1463040" cy="1463040"/>
          </a:xfrm>
          <a:prstGeom prst="ellipse">
            <a:avLst/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1005840"/>
            <a:ext cx="914400" cy="914400"/>
          </a:xfrm>
          <a:prstGeom prst="ellipse">
            <a:avLst/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隨堂複習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Noto Serif CJK TC"/>
                <a:ea typeface="Noto Serif CJK TC"/>
                <a:cs typeface="Noto Serif CJK TC"/>
              </a:rPr>
              <a:t>動手測一測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713232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3026664"/>
            <a:ext cx="822960" cy="420624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880360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三品種雜交豬的終端公豬是哪一種？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880360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杜洛克 Duroc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21608"/>
            <a:ext cx="10515600" cy="713232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3867912"/>
            <a:ext cx="822960" cy="420624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721608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家禽種蛋胚胎發育的臨界溫度？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721608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23.9℃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62856"/>
            <a:ext cx="10515600" cy="713232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4709160"/>
            <a:ext cx="822960" cy="420624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562856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家禽畜中精液量最多的是？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562856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豬（250 毫升）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404104"/>
            <a:ext cx="10515600" cy="713232"/>
          </a:xfrm>
          <a:prstGeom prst="roundRect">
            <a:avLst>
              <a:gd name="adj" fmla="val 10000"/>
            </a:avLst>
          </a:prstGeom>
          <a:solidFill>
            <a:srgbClr val="17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5550408"/>
            <a:ext cx="822960" cy="420624"/>
          </a:xfrm>
          <a:prstGeom prst="roundRect">
            <a:avLst>
              <a:gd name="adj" fmla="val 20000"/>
            </a:avLst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2440"/>
                </a:solidFill>
                <a:latin typeface="Noto Sans CJK TC"/>
                <a:ea typeface="Noto Sans CJK TC"/>
                <a:cs typeface="Noto Sans CJK TC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404104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糞污三段式處理的順序？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404104"/>
            <a:ext cx="30175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B4D8"/>
                </a:solidFill>
                <a:latin typeface="Noto Sans CJK TC"/>
                <a:ea typeface="Noto Sans CJK TC"/>
                <a:cs typeface="Noto Sans CJK TC"/>
              </a:rPr>
              <a:t>固液分離→厭氣→好氣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6C8DE"/>
                </a:solidFill>
                <a:latin typeface="Noto Sans CJK TC"/>
                <a:ea typeface="Noto Sans CJK TC"/>
                <a:cs typeface="Noto Sans CJK TC"/>
              </a:rPr>
              <a:t>農業概論下冊 第10章 畜牧 · 園藝技術教材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