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24160" y="640080"/>
            <a:ext cx="1463040" cy="1463040"/>
          </a:xfrm>
          <a:prstGeom prst="ellipse">
            <a:avLst/>
          </a:prstGeom>
          <a:solidFill>
            <a:srgbClr val="17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1097280"/>
            <a:ext cx="914400" cy="914400"/>
          </a:xfrm>
          <a:prstGeom prst="ellipse">
            <a:avLst/>
          </a:prstGeom>
          <a:solidFill>
            <a:srgbClr val="17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農業概論下冊 教學投影片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Noto Serif CJK TC"/>
                <a:ea typeface="Noto Serif CJK TC"/>
                <a:cs typeface="Noto Serif CJK TC"/>
              </a:rPr>
              <a:t>農業概論下冊：從山林到餐桌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461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林業・水產・畜牧・加工・經營・推廣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69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B6C8DE"/>
                </a:solidFill>
                <a:latin typeface="Noto Sans CJK TC"/>
                <a:ea typeface="Noto Sans CJK TC"/>
                <a:cs typeface="Noto Sans CJK TC"/>
              </a:rPr>
              <a:t>對照教材《農概下冊》第8～13章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07492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17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22122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授課時數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53212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約 2 節課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507492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17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522122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適用對象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553212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高職學生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507492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17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522122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核心內容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53212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六大領域＋四專有名詞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507492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17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522122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延伸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553212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學習歷程・線上測驗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導論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課程導覽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學習目標與本冊地圖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這堂課結束後，你會：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5486400" cy="932688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496312"/>
            <a:ext cx="566928" cy="56692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2459736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認識產業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953512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認識林業、水產、畜牧三大生產領域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00984"/>
            <a:ext cx="5486400" cy="932688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3557016"/>
            <a:ext cx="566928" cy="56692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3520440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掌握加工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4014216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理解農產加工保存原理與方法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61688"/>
            <a:ext cx="5486400" cy="932688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4672" y="4617720"/>
            <a:ext cx="566928" cy="56692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4581144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學會經營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5074920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了解農產運銷、有機與永續農業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22392"/>
            <a:ext cx="5486400" cy="932688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5678424"/>
            <a:ext cx="566928" cy="56692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564184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連結組織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6135624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認識農民團體與農業推廣體系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7830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章節 · 學習路徑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240280"/>
            <a:ext cx="521208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01968" y="2459736"/>
            <a:ext cx="868680" cy="502920"/>
          </a:xfrm>
          <a:prstGeom prst="roundRect">
            <a:avLst>
              <a:gd name="adj" fmla="val 18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404872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林業經營管理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807208"/>
            <a:ext cx="3840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森林保育與林產利用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300984"/>
            <a:ext cx="521208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01968" y="3520440"/>
            <a:ext cx="868680" cy="502920"/>
          </a:xfrm>
          <a:prstGeom prst="roundRect">
            <a:avLst>
              <a:gd name="adj" fmla="val 18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3465576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水產養殖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3867912"/>
            <a:ext cx="3840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淡水與鹹水養殖管理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361688"/>
            <a:ext cx="521208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01968" y="4581144"/>
            <a:ext cx="868680" cy="502920"/>
          </a:xfrm>
          <a:prstGeom prst="roundRect">
            <a:avLst>
              <a:gd name="adj" fmla="val 18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452628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畜牧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4928616"/>
            <a:ext cx="3840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禽畜飼養與生物安全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5422392"/>
            <a:ext cx="521208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01968" y="5641848"/>
            <a:ext cx="868680" cy="502920"/>
          </a:xfrm>
          <a:prstGeom prst="roundRect">
            <a:avLst>
              <a:gd name="adj" fmla="val 18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5586984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農產加工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5989320"/>
            <a:ext cx="3840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保存原理與方法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· 園藝技術教材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導論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觀念地基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現代農業的三生功能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生產 × 生活 × 生態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農業不只生產糧食（生產），還維繫農村文化（生活），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並守護自然環境（生態）——這是現代農業的核心價值。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本冊六大領域都圍繞著「永續」這條主軸展開。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為什麼重要？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糧食安全的根本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農村社會的支柱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環境保育的關鍵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串起全冊各章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· 園藝技術教材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第 8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林業經營管理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以「保續收穫」為最高原則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森林經營兼顧保育性、公益性、經濟性、永續性四原則，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採伐量不超過生長量，推動多目標經營。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林產利用：木材經乾燥、防腐、膠合、塗裝製成合板、紙漿與木炭。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重點掌握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森林三大功能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永續收穫經營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森林培育與保護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木材四大性質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· 園藝技術教材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第 9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水產養殖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淡水與鹹水養殖管理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漁業分海洋漁業、內陸漁業與養殖漁業；台灣養殖業發達。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管理關鍵：水溫、水質（溶氧、氨氮）、放養密度、魚病防治。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重要物種：虱目魚、吳郭魚、鰻魚、草蝦、牡蠣、石斑魚。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重點掌握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漁業生產類型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養殖水源與水質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放養與魚病防治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水產收穫行銷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· 園藝技術教材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第 10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畜牧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禽畜的生長、繁殖與衛生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畜牧涵蓋禽畜的生長、營養、飼料種類與繁殖飼養。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衛生管理以「生物安全」為防疫第一道防線。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反芻動物（牛、羊）有瘤胃，靠微生物發酵消化牧草纖維。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重點掌握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禽畜營養與飼料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禽畜繁殖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生物安全防治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反芻與瘤胃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· 園藝技術教材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第 11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農產加工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抑制腐敗、提高貯藏性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加工用降低水分、低溫、加熱殺菌密封、煙燻、發酵、降 pH 抑制微生物。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目的：提高貯藏性、附加價值、嗜好性、衛生性與營養價值。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對象含農藝、園藝、林產、畜產、水產五大作物。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重點掌握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六大保存原理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加工五大目的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生物/化學/物理性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五大作物加工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· 園藝技術教材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第 12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農業經營管理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運銷、有機與永續農業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農產運銷含行銷、運銷職能、批發市場與價格形成、農產品認證。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經營型態延伸出休閒農業、有機農業與永續農業。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並有農業金融、農業保險與農場管理支撐營運。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重點掌握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農產運銷與價格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休閒農業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有機與永續農業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農業金融保險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· 園藝技術教材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第 13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農民組織與農業推廣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農民團體與推廣體系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農民團體：農會、合作社、農田水利會等，服務廣大農民。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農業推廣體系透過教育與示範，把新技術帶到田間。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農民學院與技藝訓練中心提供系統化的農民教育。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重點掌握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國內外農民團體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農業推廣體系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農民教育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農業技藝訓練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· 園藝技術教材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專有名詞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永續收穫經營　Sustained Yield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只取利息、不動本金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採伐量控制在森林年生長量之內，蓄積量不減少，森林得以永續產出。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如同把森林當成綠色銀行，只花利息（生長量），不動本金（蓄積量）。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2024 年台灣國有林近 160 萬公頃全區取得 FSC 驗證。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關鍵概念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採伐量 ≤ 生長量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多目標經營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公益性優先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FSC 森林驗證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· 園藝技術教材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專有名詞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生物安全　Biosecurity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禽畜防疫的第一道防線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三層防護：生物阻絕（擋病原進場）、生物管理、生物防堵（防擴散）。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作法：人車消毒、分潔淨區與污染區、隔離檢疫、糞污三段式處理。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非洲豬瘟、禽流感防疫都靠生物安全把關。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關鍵概念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生物阻絕最關鍵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潔淨區/污染區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隔離檢疫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消毒與疫苗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· 園藝技術教材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專有名詞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有機農業　Organic Agriculture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不用化學農藥與化肥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遵循自然循環，禁用化學合成農藥、化肥與基因改造生物。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須通過第三方驗證機構驗證、取得有機標章才能標示販售。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田區需淨空（土壤 3 年）並設隔離帶，防止污染。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關鍵概念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禁化學農藥化肥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第三方驗證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有機標章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有機農業促進法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· 園藝技術教材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專有名詞 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永續農業　Sustainable Agriculture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貫穿全冊的大傘概念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三大支柱：環境永續、經濟可行、社會公平，兼顧當代與後代需求。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做法：輪作、節水、病蟲害綜合管理（IPM）、減少化肥、資源循環。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串起林業永續收穫、循環水養殖、畜牧糞污利用與有機農業。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關鍵概念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環境/經濟/社會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IPM 綜合管理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資源循環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對接農業淨零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· 園藝技術教材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第 11 章 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農產加工：六大保存原理一次看懂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加工的共同目的：讓微生物不好活，食物就放得久。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109167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保存原理</a:t>
                      </a:r>
                    </a:p>
                  </a:txBody>
                  <a:tcPr anchor="ctr" marT="0" marB="0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作法</a:t>
                      </a:r>
                    </a:p>
                  </a:txBody>
                  <a:tcPr anchor="ctr" marT="0" marB="0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抑制對象</a:t>
                      </a:r>
                    </a:p>
                  </a:txBody>
                  <a:tcPr anchor="ctr" marT="0" marB="0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實例</a:t>
                      </a:r>
                    </a:p>
                  </a:txBody>
                  <a:tcPr anchor="ctr" marT="0" marB="0">
                    <a:solidFill>
                      <a:srgbClr val="0F24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降低水分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日曬、烘乾、脫水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細菌、黴菌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果乾、菜脯、魚乾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低溫保存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冷藏、冷凍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微生物活動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冷凍蔬果、冰鮮魚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加熱殺菌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高溫殺菌後密封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病原菌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罐頭、殺菌乳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煙燻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煙燻兼乾燥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細菌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燻肉、燻魚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發酵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益菌產酸降 pH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腐敗菌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泡菜、豆瓣醬、優酪乳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降低 pH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加酸醃漬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多數微生物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醋漬、蜜餞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· 園藝技術教材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複習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全冊整合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六大領域，一張表複習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94560"/>
          <a:ext cx="1109167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章</a:t>
                      </a:r>
                    </a:p>
                  </a:txBody>
                  <a:tcPr anchor="ctr" marT="0" marB="0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領域</a:t>
                      </a:r>
                    </a:p>
                  </a:txBody>
                  <a:tcPr anchor="ctr" marT="0" marB="0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核心概念</a:t>
                      </a:r>
                    </a:p>
                  </a:txBody>
                  <a:tcPr anchor="ctr" marT="0" marB="0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關鍵字</a:t>
                      </a:r>
                    </a:p>
                  </a:txBody>
                  <a:tcPr anchor="ctr" marT="0" marB="0">
                    <a:solidFill>
                      <a:srgbClr val="0F24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8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林業經營管理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永續收穫、多目標經營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保續收穫、木材性質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9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水產養殖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淡水/鹹水養殖管理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水質、溶氧、魚病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畜牧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禽畜飼養與衛生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生物安全、瘤胃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11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農產加工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抑制腐敗保存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六大保存原理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12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農業經營管理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運銷、有機、永續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認證、休閒農業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13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農民組織與推廣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農民團體與推廣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農會、農民學院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· 園藝技術教材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跨章實務應用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把知識用到真實情境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453384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2103120"/>
            <a:ext cx="685800" cy="6858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2121408"/>
            <a:ext cx="938784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漁電共生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30424" y="2212848"/>
            <a:ext cx="1188720" cy="411480"/>
          </a:xfrm>
          <a:prstGeom prst="roundRect">
            <a:avLst>
              <a:gd name="adj" fmla="val 4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水產×永續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2813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觸發條件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01568"/>
            <a:ext cx="281330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養殖池上方架設太陽能板，兼顧養殖與綠能，減少土地競用。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818888"/>
            <a:ext cx="2813304" cy="18288"/>
          </a:xfrm>
          <a:prstGeom prst="rect">
            <a:avLst/>
          </a:prstGeom>
          <a:solidFill>
            <a:srgbClr val="CB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28616"/>
            <a:ext cx="2813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系統動作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76088"/>
            <a:ext cx="2813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對應第9章養殖 + 永續農業資源循環。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7784" y="1828800"/>
            <a:ext cx="3453384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2104" y="2103120"/>
            <a:ext cx="685800" cy="6858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5064" y="2121408"/>
            <a:ext cx="938784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非洲豬瘟防疫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9567" y="2212848"/>
            <a:ext cx="1188720" cy="411480"/>
          </a:xfrm>
          <a:prstGeom prst="roundRect">
            <a:avLst>
              <a:gd name="adj" fmla="val 4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畜牧×防疫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7823" y="3063240"/>
            <a:ext cx="2813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觸發條件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7823" y="3401568"/>
            <a:ext cx="281330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落實生物安全：人車消毒、廚餘蒸煮、隔離檢疫，守住豬場。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7823" y="4818888"/>
            <a:ext cx="2813304" cy="18288"/>
          </a:xfrm>
          <a:prstGeom prst="rect">
            <a:avLst/>
          </a:prstGeom>
          <a:solidFill>
            <a:srgbClr val="CB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7823" y="4928616"/>
            <a:ext cx="2813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系統動作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7823" y="5276088"/>
            <a:ext cx="2813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對應第10章畜牧生物安全防治。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6928" y="1828800"/>
            <a:ext cx="3453384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61248" y="2103120"/>
            <a:ext cx="685800" cy="6858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4208" y="2121408"/>
            <a:ext cx="938784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有機蔬菜驗證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68712" y="2212848"/>
            <a:ext cx="1188720" cy="411480"/>
          </a:xfrm>
          <a:prstGeom prst="roundRect">
            <a:avLst>
              <a:gd name="adj" fmla="val 4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經營×有機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6968" y="3063240"/>
            <a:ext cx="2813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觸發條件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6968" y="3401568"/>
            <a:ext cx="281330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田區淨空3年、設隔離帶、申請驗證取得標章後標示販售。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6968" y="4818888"/>
            <a:ext cx="2813304" cy="18288"/>
          </a:xfrm>
          <a:prstGeom prst="rect">
            <a:avLst/>
          </a:prstGeom>
          <a:solidFill>
            <a:srgbClr val="CB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6968" y="4928616"/>
            <a:ext cx="2813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系統動作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6968" y="5276088"/>
            <a:ext cx="2813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對應第12章有機農業與農產品認證。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能舉例、能連結，就能把課本知識變成帶得走的能力。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· 園藝技術教材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實作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動手做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四個實作流程練習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從流程學會操作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森林培育：整地→播種/植苗→撫育（除草、疏伐）→主伐更新。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養殖水質：測水溫/溶氧/pH/氨氮→換水打氣→控制投餌。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有機驗證：田區淨空→申請驗證→審查查證→取得標章。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加碼練習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生物安全 SOP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農產加工流程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對照學習歷程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完成線上測驗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· 園藝技術教材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總結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本章總結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三個重點，帶著走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5204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2194560"/>
            <a:ext cx="914400" cy="9144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24612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六大領域一條龍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84048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從林業、水產、畜牧到加工、經營、推廣，構成完整農業產業鏈。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9" y="1920240"/>
            <a:ext cx="35204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279" y="2194560"/>
            <a:ext cx="914400" cy="9144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324612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加工為了保存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384048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降低水分、低溫、殺菌、發酵…都是讓微生物不好活。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920240"/>
            <a:ext cx="35204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0" y="2194560"/>
            <a:ext cx="914400" cy="914400"/>
          </a:xfrm>
          <a:prstGeom prst="ellipse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4612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永續是總主軸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84048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永續收穫、生物安全、有機與永續農業，串起全冊核心。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257800"/>
            <a:ext cx="11091672" cy="960120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413248"/>
            <a:ext cx="10424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下一步：</a:t>
            </a: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打開『學習歷程：農業概論下冊』逐節複習，並完成 12 題線上測驗。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· 園藝技術教材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24160" y="548640"/>
            <a:ext cx="1463040" cy="1463040"/>
          </a:xfrm>
          <a:prstGeom prst="ellipse">
            <a:avLst/>
          </a:prstGeom>
          <a:solidFill>
            <a:srgbClr val="17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1005840"/>
            <a:ext cx="914400" cy="914400"/>
          </a:xfrm>
          <a:prstGeom prst="ellipse">
            <a:avLst/>
          </a:prstGeom>
          <a:solidFill>
            <a:srgbClr val="17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9728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隨堂複習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Noto Serif CJK TC"/>
                <a:ea typeface="Noto Serif CJK TC"/>
                <a:cs typeface="Noto Serif CJK TC"/>
              </a:rPr>
              <a:t>動手測一測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10515600" cy="713232"/>
          </a:xfrm>
          <a:prstGeom prst="roundRect">
            <a:avLst>
              <a:gd name="adj" fmla="val 10000"/>
            </a:avLst>
          </a:prstGeom>
          <a:solidFill>
            <a:srgbClr val="17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3026664"/>
            <a:ext cx="822960" cy="420624"/>
          </a:xfrm>
          <a:prstGeom prst="roundRect">
            <a:avLst>
              <a:gd name="adj" fmla="val 2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880360"/>
            <a:ext cx="6035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森林經營的最高指導原則是什麼？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880360"/>
            <a:ext cx="30175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保續收穫（採伐≤生長）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21608"/>
            <a:ext cx="10515600" cy="713232"/>
          </a:xfrm>
          <a:prstGeom prst="roundRect">
            <a:avLst>
              <a:gd name="adj" fmla="val 10000"/>
            </a:avLst>
          </a:prstGeom>
          <a:solidFill>
            <a:srgbClr val="17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1560" y="3867912"/>
            <a:ext cx="822960" cy="420624"/>
          </a:xfrm>
          <a:prstGeom prst="roundRect">
            <a:avLst>
              <a:gd name="adj" fmla="val 2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721608"/>
            <a:ext cx="6035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禽畜防疫第一道防線是哪個概念？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721608"/>
            <a:ext cx="30175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生物安全（生物阻絕）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562856"/>
            <a:ext cx="10515600" cy="713232"/>
          </a:xfrm>
          <a:prstGeom prst="roundRect">
            <a:avLst>
              <a:gd name="adj" fmla="val 10000"/>
            </a:avLst>
          </a:prstGeom>
          <a:solidFill>
            <a:srgbClr val="17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51560" y="4709160"/>
            <a:ext cx="822960" cy="420624"/>
          </a:xfrm>
          <a:prstGeom prst="roundRect">
            <a:avLst>
              <a:gd name="adj" fmla="val 2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562856"/>
            <a:ext cx="6035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農產加工降低 pH 是靠哪種方法？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562856"/>
            <a:ext cx="30175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發酵產酸/加酸醃漬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404104"/>
            <a:ext cx="10515600" cy="713232"/>
          </a:xfrm>
          <a:prstGeom prst="roundRect">
            <a:avLst>
              <a:gd name="adj" fmla="val 10000"/>
            </a:avLst>
          </a:prstGeom>
          <a:solidFill>
            <a:srgbClr val="17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5550408"/>
            <a:ext cx="822960" cy="420624"/>
          </a:xfrm>
          <a:prstGeom prst="roundRect">
            <a:avLst>
              <a:gd name="adj" fmla="val 2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404104"/>
            <a:ext cx="6035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有機農產品要合法標示需經過什麼？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5404104"/>
            <a:ext cx="30175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第三方驗證取得標章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6C8DE"/>
                </a:solidFill>
                <a:latin typeface="Noto Sans CJK TC"/>
                <a:ea typeface="Noto Sans CJK TC"/>
                <a:cs typeface="Noto Sans CJK TC"/>
              </a:rPr>
              <a:t>農業概論下冊 · 園藝技術教材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